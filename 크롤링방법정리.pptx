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0">
                <a:solidFill>
                  <a:srgbClr val="26251E"/>
                </a:solidFill>
              </a:rPr>
              <a:t>eJARN 크롤링 방법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704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6B675D"/>
                </a:solidFill>
              </a:rPr>
              <a:t>README 요약 기반 · 생성일 2026-04-13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972800" cy="4297680"/>
          </a:xfrm>
          <a:prstGeom prst="roundRect">
            <a:avLst/>
          </a:prstGeom>
          <a:solidFill>
            <a:srgbClr val="E6E5E0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/>
            <a:r>
              <a:rPr sz="1800" b="0">
                <a:solidFill>
                  <a:srgbClr val="26251E"/>
                </a:solidFill>
              </a:rPr>
              <a:t>이 문서가 설명하는 것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HITL(사람) 로그인 기반 수집 흐름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결과 JSON 스키마와 저장 규칙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배치 수집(8개 섹션) 실행 방법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로컬 대시보드(월별 2603/2604 요약) 실행 방법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0">
                <a:solidFill>
                  <a:srgbClr val="26251E"/>
                </a:solidFill>
              </a:rPr>
              <a:t>전체 흐름(End-to-End)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704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6B675D"/>
                </a:solidFill>
              </a:rPr>
              <a:t>로그인 → 크롤링 → 정규화(JSON) → 분석/대시보드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2926080" cy="914400"/>
          </a:xfrm>
          <a:prstGeom prst="roundRect">
            <a:avLst/>
          </a:prstGeom>
          <a:solidFill>
            <a:srgbClr val="EBEAE5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26251E"/>
                </a:solidFill>
              </a:rPr>
              <a:t>HITL 로그인\n(Chrome + hCaptcha)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2011680"/>
            <a:ext cx="2926080" cy="914400"/>
          </a:xfrm>
          <a:prstGeom prst="roundRect">
            <a:avLst/>
          </a:prstGeom>
          <a:solidFill>
            <a:srgbClr val="E6E5E0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26251E"/>
                </a:solidFill>
              </a:rPr>
              <a:t>크롤링 실행\n(main.py / Streamlit)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2011680"/>
            <a:ext cx="2926080" cy="914400"/>
          </a:xfrm>
          <a:prstGeom prst="roundRect">
            <a:avLst/>
          </a:prstGeom>
          <a:solidFill>
            <a:srgbClr val="EBEAE5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26251E"/>
                </a:solidFill>
              </a:rPr>
              <a:t>정규화(JSON) 저장\nresult/&lt;YYMM&gt;/*.json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3566160"/>
            <a:ext cx="2926080" cy="914400"/>
          </a:xfrm>
          <a:prstGeom prst="roundRect">
            <a:avLst/>
          </a:prstGeom>
          <a:solidFill>
            <a:srgbClr val="E1E0DB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26251E"/>
                </a:solidFill>
              </a:rPr>
              <a:t>대시보드\n(Next.js)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40" y="2468880.0"/>
            <a:ext cx="274320" cy="0.0"/>
          </a:xfrm>
          <a:prstGeom prst="line">
            <a:avLst/>
          </a:prstGeom>
          <a:ln w="2540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49440" y="2468880.0"/>
            <a:ext cx="274320" cy="0.0"/>
          </a:xfrm>
          <a:prstGeom prst="line">
            <a:avLst/>
          </a:prstGeom>
          <a:ln w="2540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486400.0" y="2926080"/>
            <a:ext cx="3200400.0" cy="640080"/>
          </a:xfrm>
          <a:prstGeom prst="line">
            <a:avLst/>
          </a:prstGeom>
          <a:ln w="2540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0">
                <a:solidFill>
                  <a:srgbClr val="26251E"/>
                </a:solidFill>
              </a:rPr>
              <a:t>준비사항(환경/설치/.env)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704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6B675D"/>
                </a:solidFill>
              </a:rPr>
              <a:t>Python/Playwright 설치 + .env 계정 설정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577840" cy="4480560"/>
          </a:xfrm>
          <a:prstGeom prst="roundRect">
            <a:avLst/>
          </a:prstGeom>
          <a:solidFill>
            <a:srgbClr val="E6E5E0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/>
            <a:r>
              <a:rPr sz="1800" b="0">
                <a:solidFill>
                  <a:srgbClr val="26251E"/>
                </a:solidFill>
              </a:rPr>
              <a:t>핵심 체크리스트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Python 3.10+ (권장 3.12)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Playwright + Chromium 설치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.env: EJARN_LOGIN_EMAIL / EJARN_LOGIN_PASSWORD 필수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선택: OPENAI_API_KEY (요약/분류/챗봇)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828800"/>
            <a:ext cx="5212080" cy="2194560"/>
          </a:xfrm>
          <a:prstGeom prst="roundRect">
            <a:avLst/>
          </a:prstGeom>
          <a:solidFill>
            <a:srgbClr val="F7F7F4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>
              <a:defRPr sz="1200">
                <a:solidFill>
                  <a:srgbClr val="26251E"/>
                </a:solidFill>
                <a:latin typeface="Consolas"/>
              </a:defRPr>
            </a:pPr>
            <a:r>
              <a:t>pip install -r requirements.txt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python -m playwright install chromium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4206240"/>
            <a:ext cx="5212080" cy="2103120"/>
          </a:xfrm>
          <a:prstGeom prst="roundRect">
            <a:avLst/>
          </a:prstGeom>
          <a:solidFill>
            <a:srgbClr val="F7F7F4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>
              <a:defRPr sz="1200">
                <a:solidFill>
                  <a:srgbClr val="26251E"/>
                </a:solidFill>
                <a:latin typeface="Consolas"/>
              </a:defRPr>
            </a:pPr>
            <a:r>
              <a:t>copy .env.sample .env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# 그리고 .env에 로그인 계정 입력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EJARN_LOGIN_EMAIL=...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EJARN_LOGIN_PASSWORD=...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0">
                <a:solidFill>
                  <a:srgbClr val="26251E"/>
                </a:solidFill>
              </a:rPr>
              <a:t>크롤링 실행(기본)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704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6B675D"/>
                </a:solidFill>
              </a:rPr>
              <a:t>CLI 또는 Streamlit(HITL)로 실행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577840" cy="4572000"/>
          </a:xfrm>
          <a:prstGeom prst="roundRect">
            <a:avLst/>
          </a:prstGeom>
          <a:solidFill>
            <a:srgbClr val="E6E5E0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/>
            <a:r>
              <a:rPr sz="1800" b="0">
                <a:solidFill>
                  <a:srgbClr val="26251E"/>
                </a:solidFill>
              </a:rPr>
              <a:t>HITL 동작 포인트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Chrome 창에서 hCaptcha/로그인 완료 필요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CLI: 로그인 완료 후 터미널에 '완료' 입력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Streamlit: '✅ 로그인 완료(진행)' 버튼으로 다음 단계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결과는 result/ 폴더에 JSON 저장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783080"/>
            <a:ext cx="5212080" cy="4572000"/>
          </a:xfrm>
          <a:prstGeom prst="roundRect">
            <a:avLst/>
          </a:prstGeom>
          <a:solidFill>
            <a:srgbClr val="F7F7F4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>
              <a:defRPr sz="1200">
                <a:solidFill>
                  <a:srgbClr val="26251E"/>
                </a:solidFill>
                <a:latin typeface="Consolas"/>
              </a:defRPr>
            </a:pPr>
            <a:r>
              <a:t># 기본 실행 (HITL 로그인 강제, 기본 max 사용)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python main.py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# 2건 수집하여 파일 저장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python main.py --max 2 -o result_2.json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# 3건 수집하여 파일 저장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python main.py --max 3 -o out_3_hitl.json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# Publication Jarn Regular 모드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python main.py --publication-jarn-regular -o publication_jarn_regular.json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# Streamlit 앱 실행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streamlit run streamlit_app.py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# 기본 실행 (HITL 로그인 강제, 기본 max 사용)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python main.py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# 2건 수집하여 파일 저장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python main.py --max 2 -o result_2.json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# 3건 수집하여 파일 저장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python main.py --max 3 -o out_3_hitl.json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# Publication Jarn Regular 모드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python main.py --publication-jarn-regular -o publication_jarn_regular.json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# Streamlit 앱 실행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streamlit run streamlit_app.py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0">
                <a:solidFill>
                  <a:srgbClr val="26251E"/>
                </a:solidFill>
              </a:rPr>
              <a:t>전 섹션 배치 수집(월 폴더 저장)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704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6B675D"/>
                </a:solidFill>
              </a:rPr>
              <a:t>한 번 로그인 후 8개 섹션을 순회 수집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577840" cy="4480560"/>
          </a:xfrm>
          <a:prstGeom prst="roundRect">
            <a:avLst/>
          </a:prstGeom>
          <a:solidFill>
            <a:srgbClr val="E6E5E0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/>
            <a:r>
              <a:rPr sz="1800" b="0">
                <a:solidFill>
                  <a:srgbClr val="26251E"/>
                </a:solidFill>
              </a:rPr>
              <a:t>수집 대상(8개)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Jarn Regular / Jarn Special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eJarn News / Cover Story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Event &gt; Exhibition / Report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Special Issue / Regular Issue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828800"/>
            <a:ext cx="5212080" cy="4480560"/>
          </a:xfrm>
          <a:prstGeom prst="roundRect">
            <a:avLst/>
          </a:prstGeom>
          <a:solidFill>
            <a:srgbClr val="F7F7F4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>
              <a:defRPr sz="1200">
                <a:solidFill>
                  <a:srgbClr val="26251E"/>
                </a:solidFill>
                <a:latin typeface="Consolas"/>
              </a:defRPr>
            </a:pPr>
            <a:r>
              <a:t>python main.py --batch-all-sections --since 2026-03-15 --result-subdir 2604 --batch-section-max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0">
                <a:solidFill>
                  <a:srgbClr val="26251E"/>
                </a:solidFill>
              </a:rPr>
              <a:t>결과 JSON 구조(정규화)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704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6B675D"/>
                </a:solidFill>
              </a:rPr>
              <a:t>ArticleCollection → items[ArticleItem] (태그 리스트 기반)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972800" cy="2926080"/>
          </a:xfrm>
          <a:prstGeom prst="roundRect">
            <a:avLst/>
          </a:prstGeom>
          <a:solidFill>
            <a:srgbClr val="F7F7F4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>
              <a:defRPr sz="1200">
                <a:solidFill>
                  <a:srgbClr val="26251E"/>
                </a:solidFill>
                <a:latin typeface="Consolas"/>
              </a:defRPr>
            </a:pPr>
            <a:r>
              <a:t>{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"source": "eJARN",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"collected_at": "ISO",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"items": [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    "date": "YYYY-MM-DD",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    "topic": "...",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    "summary": "... (&lt;= 900자)",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    "link": "https://...",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    "company": [],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    "product_type": [],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    "market_segment": [],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    "refrigerant": ["Unknown"|...],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    "application": ["Multi-purpose"|...],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    "technology": [],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    "category": ["Market"|...]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  }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]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937760"/>
            <a:ext cx="10972800" cy="1371600"/>
          </a:xfrm>
          <a:prstGeom prst="roundRect">
            <a:avLst/>
          </a:prstGeom>
          <a:solidFill>
            <a:srgbClr val="E6E5E0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/>
            <a:r>
              <a:rPr sz="1800" b="0">
                <a:solidFill>
                  <a:srgbClr val="26251E"/>
                </a:solidFill>
              </a:rPr>
              <a:t>품질 규칙(핵심)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summary 최대 900자, 분류 리스트 중복 제거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refrigerant 미식별: Unknown / application 미식별: Multi-purpose / category 미식별: Market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0">
                <a:solidFill>
                  <a:srgbClr val="26251E"/>
                </a:solidFill>
              </a:rPr>
              <a:t>대시보드(로컬, Next.js)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704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6B675D"/>
                </a:solidFill>
              </a:rPr>
              <a:t>result/YYMM/*.json을 읽어 월별(2603/2604) 요약과 품질 신호를 제공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577840" cy="4480560"/>
          </a:xfrm>
          <a:prstGeom prst="roundRect">
            <a:avLst/>
          </a:prstGeom>
          <a:solidFill>
            <a:srgbClr val="E6E5E0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/>
            <a:r>
              <a:rPr sz="1800" b="0">
                <a:solidFill>
                  <a:srgbClr val="26251E"/>
                </a:solidFill>
              </a:rPr>
              <a:t>현재 제공 기능(MVP)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Monthly: 월별 KPI/TopN/월간 브리프(규칙 기반)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Explore: 최근 파일 일부 미리보기(중복 링크 대비)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Quality: 404/기본값 신호 + 파일별 품질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Trends: 월별 추이(확장 예정)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828800"/>
            <a:ext cx="5212080" cy="2011680"/>
          </a:xfrm>
          <a:prstGeom prst="roundRect">
            <a:avLst/>
          </a:prstGeom>
          <a:solidFill>
            <a:srgbClr val="F7F7F4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>
              <a:defRPr sz="1200">
                <a:solidFill>
                  <a:srgbClr val="26251E"/>
                </a:solidFill>
                <a:latin typeface="Consolas"/>
              </a:defRPr>
            </a:pPr>
            <a:r>
              <a:t>cd dashboard-frontend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npm install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npm run dev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4114800"/>
            <a:ext cx="5212080" cy="2194560"/>
          </a:xfrm>
          <a:prstGeom prst="roundRect">
            <a:avLst/>
          </a:prstGeom>
          <a:solidFill>
            <a:srgbClr val="F7F7F4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>
              <a:defRPr sz="1200">
                <a:solidFill>
                  <a:srgbClr val="26251E"/>
                </a:solidFill>
                <a:latin typeface="Consolas"/>
              </a:defRPr>
            </a:pPr>
            <a:r>
              <a:t>/monthly?yymm=2604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/explore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/quality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/trends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0">
                <a:solidFill>
                  <a:srgbClr val="26251E"/>
                </a:solidFill>
              </a:rPr>
              <a:t>UML(mermaid) — 참고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704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6B675D"/>
                </a:solidFill>
              </a:rPr>
              <a:t>문서/위키에 붙여 넣어 흐름 공유할 때 사용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972800" cy="4389120"/>
          </a:xfrm>
          <a:prstGeom prst="roundRect">
            <a:avLst/>
          </a:prstGeom>
          <a:solidFill>
            <a:srgbClr val="F7F7F4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>
              <a:defRPr sz="1200">
                <a:solidFill>
                  <a:srgbClr val="26251E"/>
                </a:solidFill>
                <a:latin typeface="Consolas"/>
              </a:defRPr>
            </a:pPr>
            <a:r>
              <a:t>```mermaid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flowchart LR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HitlLogin[HITL_Login] --&gt; Crawl[Crawl_Pipeline]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Crawl --&gt; Normalize[Normalize_JSON]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Normalize --&gt; ResultDir[result_YYMM_json]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  ResultDir --&gt; Dashboard[Nextjs_Dashboard]</a:t>
            </a:r>
          </a:p>
          <a:p>
            <a:pPr>
              <a:defRPr sz="1200">
                <a:solidFill>
                  <a:srgbClr val="26251E"/>
                </a:solidFill>
                <a:latin typeface="Consolas"/>
              </a:defRPr>
            </a:pPr>
            <a:r>
              <a:t>```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355080"/>
            <a:ext cx="10972800" cy="365760"/>
          </a:xfrm>
          <a:prstGeom prst="roundRect">
            <a:avLst/>
          </a:prstGeom>
          <a:solidFill>
            <a:srgbClr val="E6E5E0"/>
          </a:solidFill>
          <a:ln w="12700">
            <a:solidFill>
              <a:srgbClr val="C9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ctr"/>
            <a:r>
              <a:rPr sz="1800" b="0">
                <a:solidFill>
                  <a:srgbClr val="26251E"/>
                </a:solidFill>
              </a:rPr>
              <a:t>Tip</a:t>
            </a:r>
          </a:p>
          <a:p>
            <a:pPr>
              <a:defRPr sz="1400">
                <a:solidFill>
                  <a:srgbClr val="26251E"/>
                </a:solidFill>
              </a:defRPr>
            </a:pPr>
            <a:r>
              <a:t>README 기반으로 생성됨(세부는 README/코드 참조).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